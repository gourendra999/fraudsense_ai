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embeddedFontLst>
    <p:embeddedFont>
      <p:font typeface="Noto Sans Bold"/>
      <p:regular r:id="rId201314"/>
    </p:embeddedFont>
    <p:embeddedFont>
      <p:font typeface="Noto Sans ExtraBold"/>
      <p:regular r:id="rId201315"/>
    </p:embeddedFont>
    <p:embeddedFont>
      <p:font typeface="Noto Sans Thin"/>
      <p:regular r:id="rId201316"/>
    </p:embeddedFont>
    <p:embeddedFont>
      <p:font typeface="Noto Sans ExtraLight"/>
      <p:regular r:id="rId201317"/>
    </p:embeddedFont>
    <p:embeddedFont>
      <p:font typeface="Noto Sans Light"/>
      <p:regular r:id="rId201318"/>
    </p:embeddedFont>
    <p:embeddedFont>
      <p:font typeface="Noto Sans"/>
      <p:regular r:id="rId201319"/>
    </p:embeddedFont>
    <p:embeddedFont>
      <p:font typeface="Noto Sans Medium"/>
      <p:regular r:id="rId201320"/>
    </p:embeddedFont>
    <p:embeddedFont>
      <p:font typeface="Noto Sans SemiBold"/>
      <p:regular r:id="rId201321"/>
    </p:embeddedFont>
    <p:embeddedFont>
      <p:font typeface="Noto Sans Black"/>
      <p:regular r:id="rId201322"/>
    </p:embeddedFont>
    <p:embeddedFont>
      <p:font typeface="Sora Thin"/>
      <p:regular r:id="rId201323"/>
    </p:embeddedFont>
    <p:embeddedFont>
      <p:font typeface="Sora ExtraLight"/>
      <p:regular r:id="rId201324"/>
    </p:embeddedFont>
    <p:embeddedFont>
      <p:font typeface="Sora Medium"/>
      <p:regular r:id="rId201325"/>
    </p:embeddedFont>
    <p:embeddedFont>
      <p:font typeface="Sora Light"/>
      <p:regular r:id="rId201326"/>
    </p:embeddedFont>
    <p:embeddedFont>
      <p:font typeface="Sora"/>
      <p:regular r:id="rId201327"/>
    </p:embeddedFont>
    <p:embeddedFont>
      <p:font typeface="Sora SemiBold"/>
      <p:regular r:id="rId201328"/>
    </p:embeddedFont>
    <p:embeddedFont>
      <p:font typeface="Sora Bold"/>
      <p:regular r:id="rId201329"/>
    </p:embeddedFont>
    <p:embeddedFont>
      <p:font typeface="Sora ExtraBold"/>
      <p:regular r:id="rId20133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3-2.jpeg"/><Relationship Id="rId3" Type="http://schemas.openxmlformats.org/officeDocument/2006/relationships/image" Target="../media/image-1002-2.png"/><Relationship Id="rId5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0C">
              <a:alpha val="80000"/>
            </a:srgbClr>
          </a:solidFill>
          <a:ln/>
        </p:spPr>
      </p:sp>
      <p:pic>
        <p:nvPicPr>
          <p:cNvPr id="6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1.png"/><Relationship Id="rId4" Type="http://schemas.openxmlformats.org/officeDocument/2006/relationships/image" Target="../media/image-5-2.svg"/><Relationship Id="rId5" Type="http://schemas.openxmlformats.org/officeDocument/2006/relationships/image" Target="../media/image-5-1.png"/><Relationship Id="rId6" Type="http://schemas.openxmlformats.org/officeDocument/2006/relationships/image" Target="../media/image-5-2.svg"/><Relationship Id="rId7" Type="http://schemas.openxmlformats.org/officeDocument/2006/relationships/image" Target="../media/image-5-1.png"/><Relationship Id="rId8" Type="http://schemas.openxmlformats.org/officeDocument/2006/relationships/image" Target="../media/image-5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10183" y="2363986"/>
            <a:ext cx="2971230" cy="287139"/>
          </a:xfrm>
          <a:prstGeom prst="roundRect">
            <a:avLst>
              <a:gd name="adj" fmla="val 7899"/>
            </a:avLst>
          </a:prstGeom>
          <a:solidFill>
            <a:srgbClr val="00184D"/>
          </a:solidFill>
          <a:ln/>
        </p:spPr>
      </p:sp>
      <p:sp>
        <p:nvSpPr>
          <p:cNvPr id="3" name="Text 1"/>
          <p:cNvSpPr/>
          <p:nvPr/>
        </p:nvSpPr>
        <p:spPr>
          <a:xfrm>
            <a:off x="4723587" y="2420640"/>
            <a:ext cx="3354006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ENTERPRISE ML · FINANCIAL SECURITY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2726730"/>
            <a:ext cx="10868745" cy="1181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4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FraudSense AI</a:t>
            </a:r>
            <a:endParaRPr lang="en-US" sz="7400" dirty="0"/>
          </a:p>
        </p:txBody>
      </p:sp>
      <p:sp>
        <p:nvSpPr>
          <p:cNvPr id="5" name="Text 3"/>
          <p:cNvSpPr/>
          <p:nvPr/>
        </p:nvSpPr>
        <p:spPr>
          <a:xfrm>
            <a:off x="356682" y="4191595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Real-Time Behavioral Fraud Detection in P2P Money Networks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1107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Beyond the Balance Sheet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279749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Most fraud models fail not from poor algorithms — but from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architectural leakage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 Training on raw balance histories means the model learns from the future to predict the past.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25350" y="3097213"/>
            <a:ext cx="5476043" cy="2449711"/>
          </a:xfrm>
          <a:prstGeom prst="roundRect">
            <a:avLst>
              <a:gd name="adj" fmla="val 1157"/>
            </a:avLst>
          </a:prstGeom>
          <a:solidFill>
            <a:srgbClr val="1F0F0F"/>
          </a:solidFill>
          <a:ln/>
        </p:spPr>
      </p:sp>
      <p:sp>
        <p:nvSpPr>
          <p:cNvPr id="5" name="Text 3"/>
          <p:cNvSpPr/>
          <p:nvPr/>
        </p:nvSpPr>
        <p:spPr>
          <a:xfrm>
            <a:off x="714357" y="3286224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Brittle Industry Standard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714357" y="3770511"/>
            <a:ext cx="5098029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Raw balance histories as primary features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Severe data leakage in training pipelines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Static values with no temporal context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 false-positive fatigue for compliance teams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196651" y="3097213"/>
            <a:ext cx="5476043" cy="2449711"/>
          </a:xfrm>
          <a:prstGeom prst="roundRect">
            <a:avLst>
              <a:gd name="adj" fmla="val 1157"/>
            </a:avLst>
          </a:prstGeom>
          <a:solidFill>
            <a:srgbClr val="0E1626"/>
          </a:solidFill>
          <a:ln/>
        </p:spPr>
      </p:sp>
      <p:sp>
        <p:nvSpPr>
          <p:cNvPr id="8" name="Text 6"/>
          <p:cNvSpPr/>
          <p:nvPr/>
        </p:nvSpPr>
        <p:spPr>
          <a:xfrm>
            <a:off x="6385658" y="3286224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0B981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The Zero-Leakage Paradigm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385658" y="3770511"/>
            <a:ext cx="5098029" cy="17103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Behavioral physics engineered from transaction dynamics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Strict chronological isolation in all training splits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Dynamic feature lookups — never future-state values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Adaptive thresholds calibrated to network topology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Chronological Integrity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488480"/>
            <a:ext cx="10868745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CBD5E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Random cross-validation is structurally invalid in financial systems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FraudSense enforces a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strict temporal firewall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between training and evaluation.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2660253"/>
            <a:ext cx="10868745" cy="25400"/>
          </a:xfrm>
          <a:prstGeom prst="roundRect">
            <a:avLst>
              <a:gd name="adj" fmla="val 111625"/>
            </a:avLst>
          </a:prstGeom>
          <a:solidFill>
            <a:srgbClr val="3F3F44"/>
          </a:solidFill>
          <a:ln/>
        </p:spPr>
      </p:sp>
      <p:sp>
        <p:nvSpPr>
          <p:cNvPr id="5" name="Shape 3"/>
          <p:cNvSpPr/>
          <p:nvPr/>
        </p:nvSpPr>
        <p:spPr>
          <a:xfrm>
            <a:off x="1918743" y="2660253"/>
            <a:ext cx="25399" cy="378023"/>
          </a:xfrm>
          <a:prstGeom prst="roundRect">
            <a:avLst>
              <a:gd name="adj" fmla="val 111630"/>
            </a:avLst>
          </a:prstGeom>
          <a:solidFill>
            <a:srgbClr val="3F3F44"/>
          </a:solidFill>
          <a:ln/>
        </p:spPr>
      </p:sp>
      <p:sp>
        <p:nvSpPr>
          <p:cNvPr id="6" name="Shape 4"/>
          <p:cNvSpPr/>
          <p:nvPr/>
        </p:nvSpPr>
        <p:spPr>
          <a:xfrm>
            <a:off x="1860603" y="2589411"/>
            <a:ext cx="141681" cy="141684"/>
          </a:xfrm>
          <a:prstGeom prst="ellipse">
            <a:avLst/>
          </a:prstGeom>
          <a:solidFill>
            <a:srgbClr val="B380FF"/>
          </a:solidFill>
          <a:ln/>
        </p:spPr>
      </p:sp>
      <p:sp>
        <p:nvSpPr>
          <p:cNvPr id="7" name="Text 5"/>
          <p:cNvSpPr/>
          <p:nvPr/>
        </p:nvSpPr>
        <p:spPr>
          <a:xfrm>
            <a:off x="850482" y="3227388"/>
            <a:ext cx="216192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Baseline Training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850482" y="3636070"/>
            <a:ext cx="216192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Modeling starts with historical behavior only.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694914" y="2660253"/>
            <a:ext cx="25399" cy="378023"/>
          </a:xfrm>
          <a:prstGeom prst="roundRect">
            <a:avLst>
              <a:gd name="adj" fmla="val 111630"/>
            </a:avLst>
          </a:prstGeom>
          <a:solidFill>
            <a:srgbClr val="3F3F44"/>
          </a:solidFill>
          <a:ln/>
        </p:spPr>
      </p:sp>
      <p:sp>
        <p:nvSpPr>
          <p:cNvPr id="10" name="Shape 8"/>
          <p:cNvSpPr/>
          <p:nvPr/>
        </p:nvSpPr>
        <p:spPr>
          <a:xfrm>
            <a:off x="4636773" y="2589411"/>
            <a:ext cx="141681" cy="141684"/>
          </a:xfrm>
          <a:prstGeom prst="ellipse">
            <a:avLst/>
          </a:prstGeom>
          <a:solidFill>
            <a:srgbClr val="B380FF"/>
          </a:solidFill>
          <a:ln/>
        </p:spPr>
      </p:sp>
      <p:sp>
        <p:nvSpPr>
          <p:cNvPr id="11" name="Text 9"/>
          <p:cNvSpPr/>
          <p:nvPr/>
        </p:nvSpPr>
        <p:spPr>
          <a:xfrm>
            <a:off x="3626652" y="3227388"/>
            <a:ext cx="216202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The Strict Cut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3626652" y="3636070"/>
            <a:ext cx="216202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Training and evaluation are separated by time.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471183" y="2660253"/>
            <a:ext cx="25399" cy="378023"/>
          </a:xfrm>
          <a:prstGeom prst="roundRect">
            <a:avLst>
              <a:gd name="adj" fmla="val 111630"/>
            </a:avLst>
          </a:prstGeom>
          <a:solidFill>
            <a:srgbClr val="3F3F44"/>
          </a:solidFill>
          <a:ln/>
        </p:spPr>
      </p:sp>
      <p:sp>
        <p:nvSpPr>
          <p:cNvPr id="14" name="Shape 12"/>
          <p:cNvSpPr/>
          <p:nvPr/>
        </p:nvSpPr>
        <p:spPr>
          <a:xfrm>
            <a:off x="7413043" y="2589411"/>
            <a:ext cx="141681" cy="141684"/>
          </a:xfrm>
          <a:prstGeom prst="ellipse">
            <a:avLst/>
          </a:prstGeom>
          <a:solidFill>
            <a:srgbClr val="B380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2922" y="3227388"/>
            <a:ext cx="216202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Feature Mapping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6402922" y="3636070"/>
            <a:ext cx="216202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Inputs are built from past transaction dynamics.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10247453" y="2660253"/>
            <a:ext cx="25399" cy="378023"/>
          </a:xfrm>
          <a:prstGeom prst="roundRect">
            <a:avLst>
              <a:gd name="adj" fmla="val 111630"/>
            </a:avLst>
          </a:prstGeom>
          <a:solidFill>
            <a:srgbClr val="3F3F44"/>
          </a:solidFill>
          <a:ln/>
        </p:spPr>
      </p:sp>
      <p:sp>
        <p:nvSpPr>
          <p:cNvPr id="18" name="Shape 16"/>
          <p:cNvSpPr/>
          <p:nvPr/>
        </p:nvSpPr>
        <p:spPr>
          <a:xfrm>
            <a:off x="10189312" y="2589411"/>
            <a:ext cx="141681" cy="141684"/>
          </a:xfrm>
          <a:prstGeom prst="ellipse">
            <a:avLst/>
          </a:prstGeom>
          <a:solidFill>
            <a:srgbClr val="B380FF"/>
          </a:solidFill>
          <a:ln/>
        </p:spPr>
      </p:sp>
      <p:sp>
        <p:nvSpPr>
          <p:cNvPr id="19" name="Text 17"/>
          <p:cNvSpPr/>
          <p:nvPr/>
        </p:nvSpPr>
        <p:spPr>
          <a:xfrm>
            <a:off x="9179191" y="3227388"/>
            <a:ext cx="216202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Isolated Evaluation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9179191" y="3931345"/>
            <a:ext cx="216202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Performance is measured without temporal leakage.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61475" y="5051227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This out-of-time splitting protocol ensures every performance metric reflects genuine forward-looking predictive power — not an artifact of temporal contamination.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6177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Multi-Dimensional Behavioral Vectors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330450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FraudSense engineers three orthogonal feature families that together map the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behavioral geometry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of every transaction.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25350" y="2845495"/>
            <a:ext cx="3588454" cy="2650728"/>
          </a:xfrm>
          <a:prstGeom prst="roundRect">
            <a:avLst>
              <a:gd name="adj" fmla="val 1070"/>
            </a:avLst>
          </a:prstGeom>
          <a:solidFill>
            <a:srgbClr val="0E1626"/>
          </a:solidFill>
          <a:ln/>
        </p:spPr>
      </p:sp>
      <p:sp>
        <p:nvSpPr>
          <p:cNvPr id="5" name="Text 3"/>
          <p:cNvSpPr/>
          <p:nvPr/>
        </p:nvSpPr>
        <p:spPr>
          <a:xfrm>
            <a:off x="714357" y="3034506"/>
            <a:ext cx="321044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Network Link Analysis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714357" y="3518793"/>
            <a:ext cx="3210440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Tracks unverified destination nodes to map money-laundering vectors across the P2P graph — flagging structural anomalies invisible to balance-only models.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309062" y="2845495"/>
            <a:ext cx="3587263" cy="2650728"/>
          </a:xfrm>
          <a:prstGeom prst="roundRect">
            <a:avLst>
              <a:gd name="adj" fmla="val 1070"/>
            </a:avLst>
          </a:prstGeom>
          <a:solidFill>
            <a:srgbClr val="0E1626"/>
          </a:solidFill>
          <a:ln/>
        </p:spPr>
      </p:sp>
      <p:sp>
        <p:nvSpPr>
          <p:cNvPr id="8" name="Text 6"/>
          <p:cNvSpPr/>
          <p:nvPr/>
        </p:nvSpPr>
        <p:spPr>
          <a:xfrm>
            <a:off x="4498069" y="3034506"/>
            <a:ext cx="320924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Temporal &amp; Velocity Anomalies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4498069" y="3814068"/>
            <a:ext cx="3209249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Flags nocturnal transaction bursts and velocity spikes that deviate from established sender behavioral baselines — catching automated attack scripts.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091583" y="2845495"/>
            <a:ext cx="3587263" cy="2650728"/>
          </a:xfrm>
          <a:prstGeom prst="roundRect">
            <a:avLst>
              <a:gd name="adj" fmla="val 1070"/>
            </a:avLst>
          </a:prstGeom>
          <a:solidFill>
            <a:srgbClr val="0E1626"/>
          </a:solidFill>
          <a:ln/>
        </p:spPr>
      </p:sp>
      <p:sp>
        <p:nvSpPr>
          <p:cNvPr id="11" name="Text 9"/>
          <p:cNvSpPr/>
          <p:nvPr/>
        </p:nvSpPr>
        <p:spPr>
          <a:xfrm>
            <a:off x="8280590" y="3034506"/>
            <a:ext cx="320924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Contextual Geometry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8280590" y="3518793"/>
            <a:ext cx="3209249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Identifies automated account drains using perfect rounded high-value triggers — transaction patterns too mathematically clean to be human-generated.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5673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Beating the Classic Trade-off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425402"/>
            <a:ext cx="2575357" cy="297576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7479" y="2639814"/>
            <a:ext cx="20449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Recall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77479" y="3048496"/>
            <a:ext cx="2044946" cy="8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1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60%</a:t>
            </a:r>
            <a:endParaRPr lang="en-US" sz="5100" dirty="0"/>
          </a:p>
        </p:txBody>
      </p:sp>
      <p:sp>
        <p:nvSpPr>
          <p:cNvPr id="6" name="Text 3"/>
          <p:cNvSpPr/>
          <p:nvPr/>
        </p:nvSpPr>
        <p:spPr>
          <a:xfrm>
            <a:off x="977479" y="3977084"/>
            <a:ext cx="204494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 of 10 incoming attacks intercepted before settlement</a:t>
            </a:r>
            <a:endParaRPr lang="en-US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839" y="2425402"/>
            <a:ext cx="2575456" cy="297576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741842" y="2639814"/>
            <a:ext cx="20450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Precision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3741842" y="3048496"/>
            <a:ext cx="2045046" cy="8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1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64%</a:t>
            </a:r>
            <a:endParaRPr lang="en-US" sz="5100" dirty="0"/>
          </a:p>
        </p:txBody>
      </p:sp>
      <p:sp>
        <p:nvSpPr>
          <p:cNvPr id="10" name="Text 6"/>
          <p:cNvSpPr/>
          <p:nvPr/>
        </p:nvSpPr>
        <p:spPr>
          <a:xfrm>
            <a:off x="3741842" y="3977084"/>
            <a:ext cx="204504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 in 3 alerts are true positives — reducing analyst fatigue</a:t>
            </a:r>
            <a:endParaRPr lang="en-US" sz="14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90301" y="2425402"/>
            <a:ext cx="2575456" cy="297576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506305" y="2639814"/>
            <a:ext cx="20450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F1-Score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6506305" y="3048496"/>
            <a:ext cx="2045046" cy="8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1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0.62</a:t>
            </a:r>
            <a:endParaRPr lang="en-US" sz="5100" dirty="0"/>
          </a:p>
        </p:txBody>
      </p:sp>
      <p:sp>
        <p:nvSpPr>
          <p:cNvPr id="14" name="Text 9"/>
          <p:cNvSpPr/>
          <p:nvPr/>
        </p:nvSpPr>
        <p:spPr>
          <a:xfrm>
            <a:off x="6506305" y="3977084"/>
            <a:ext cx="204504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Balanced harmonic mean of precision and recall</a:t>
            </a:r>
            <a:endParaRPr lang="en-US" sz="14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54764" y="2425402"/>
            <a:ext cx="2575456" cy="2975769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270768" y="2639814"/>
            <a:ext cx="20450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Global Accuracy</a:t>
            </a:r>
            <a:endParaRPr lang="en-US" sz="1850" dirty="0"/>
          </a:p>
        </p:txBody>
      </p:sp>
      <p:sp>
        <p:nvSpPr>
          <p:cNvPr id="17" name="Text 11"/>
          <p:cNvSpPr/>
          <p:nvPr/>
        </p:nvSpPr>
        <p:spPr>
          <a:xfrm>
            <a:off x="9270768" y="3048496"/>
            <a:ext cx="2045046" cy="8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1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98%</a:t>
            </a:r>
            <a:endParaRPr lang="en-US" sz="5100" dirty="0"/>
          </a:p>
        </p:txBody>
      </p:sp>
      <p:sp>
        <p:nvSpPr>
          <p:cNvPr id="18" name="Text 12"/>
          <p:cNvSpPr/>
          <p:nvPr/>
        </p:nvSpPr>
        <p:spPr>
          <a:xfrm>
            <a:off x="9270768" y="3977084"/>
            <a:ext cx="204504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Near-perfect classification across the full transaction corpus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4120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Stateful Identity Gating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915319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FraudSense AI performs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C7CEDB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zero-shot identity lookup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on every live transaction — dynamically resolving "New vs. Existing" sender status using saved training lookup vectors, not manual user checkboxes.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874095" y="2732782"/>
            <a:ext cx="25399" cy="3084016"/>
          </a:xfrm>
          <a:prstGeom prst="roundRect">
            <a:avLst>
              <a:gd name="adj" fmla="val 111630"/>
            </a:avLst>
          </a:prstGeom>
          <a:solidFill>
            <a:srgbClr val="3F3F44"/>
          </a:solidFill>
          <a:ln/>
        </p:spPr>
      </p:sp>
      <p:sp>
        <p:nvSpPr>
          <p:cNvPr id="5" name="Shape 3"/>
          <p:cNvSpPr/>
          <p:nvPr/>
        </p:nvSpPr>
        <p:spPr>
          <a:xfrm>
            <a:off x="1061316" y="2932708"/>
            <a:ext cx="567021" cy="25400"/>
          </a:xfrm>
          <a:prstGeom prst="roundRect">
            <a:avLst>
              <a:gd name="adj" fmla="val 111625"/>
            </a:avLst>
          </a:prstGeom>
          <a:solidFill>
            <a:srgbClr val="3F3F44"/>
          </a:solidFill>
          <a:ln/>
        </p:spPr>
      </p:sp>
      <p:sp>
        <p:nvSpPr>
          <p:cNvPr id="6" name="Shape 4"/>
          <p:cNvSpPr/>
          <p:nvPr/>
        </p:nvSpPr>
        <p:spPr>
          <a:xfrm>
            <a:off x="661475" y="2732782"/>
            <a:ext cx="425241" cy="425252"/>
          </a:xfrm>
          <a:prstGeom prst="roundRect">
            <a:avLst>
              <a:gd name="adj" fmla="val 6667"/>
            </a:avLst>
          </a:prstGeom>
          <a:solidFill>
            <a:srgbClr val="26262B"/>
          </a:solidFill>
          <a:ln/>
        </p:spPr>
      </p:sp>
      <p:sp>
        <p:nvSpPr>
          <p:cNvPr id="7" name="Text 5"/>
          <p:cNvSpPr/>
          <p:nvPr/>
        </p:nvSpPr>
        <p:spPr>
          <a:xfrm>
            <a:off x="732365" y="2768203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819130" y="2797671"/>
            <a:ext cx="971109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Live Transaction Ingest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1819130" y="3206353"/>
            <a:ext cx="971109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Every incoming request is hashed against the identity vector store in under 50ms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1061316" y="4086721"/>
            <a:ext cx="567021" cy="25400"/>
          </a:xfrm>
          <a:prstGeom prst="roundRect">
            <a:avLst>
              <a:gd name="adj" fmla="val 111625"/>
            </a:avLst>
          </a:prstGeom>
          <a:solidFill>
            <a:srgbClr val="3F3F44"/>
          </a:solidFill>
          <a:ln/>
        </p:spPr>
      </p:sp>
      <p:sp>
        <p:nvSpPr>
          <p:cNvPr id="11" name="Shape 9"/>
          <p:cNvSpPr/>
          <p:nvPr/>
        </p:nvSpPr>
        <p:spPr>
          <a:xfrm>
            <a:off x="661475" y="3886795"/>
            <a:ext cx="425241" cy="425252"/>
          </a:xfrm>
          <a:prstGeom prst="roundRect">
            <a:avLst>
              <a:gd name="adj" fmla="val 6667"/>
            </a:avLst>
          </a:prstGeom>
          <a:solidFill>
            <a:srgbClr val="26262B"/>
          </a:solidFill>
          <a:ln/>
        </p:spPr>
      </p:sp>
      <p:sp>
        <p:nvSpPr>
          <p:cNvPr id="12" name="Text 10"/>
          <p:cNvSpPr/>
          <p:nvPr/>
        </p:nvSpPr>
        <p:spPr>
          <a:xfrm>
            <a:off x="732365" y="3922216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819130" y="3951684"/>
            <a:ext cx="971109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Vector Match Resolution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1819130" y="4360366"/>
            <a:ext cx="971109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Existing senders resolve to behavioral baselines; new senders trigger elevated scrutiny protocols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1061316" y="5240734"/>
            <a:ext cx="567021" cy="25400"/>
          </a:xfrm>
          <a:prstGeom prst="roundRect">
            <a:avLst>
              <a:gd name="adj" fmla="val 111625"/>
            </a:avLst>
          </a:prstGeom>
          <a:solidFill>
            <a:srgbClr val="3F3F44"/>
          </a:solidFill>
          <a:ln/>
        </p:spPr>
      </p:sp>
      <p:sp>
        <p:nvSpPr>
          <p:cNvPr id="16" name="Shape 14"/>
          <p:cNvSpPr/>
          <p:nvPr/>
        </p:nvSpPr>
        <p:spPr>
          <a:xfrm>
            <a:off x="661475" y="5040809"/>
            <a:ext cx="425241" cy="425252"/>
          </a:xfrm>
          <a:prstGeom prst="roundRect">
            <a:avLst>
              <a:gd name="adj" fmla="val 6667"/>
            </a:avLst>
          </a:prstGeom>
          <a:solidFill>
            <a:srgbClr val="26262B"/>
          </a:solidFill>
          <a:ln/>
        </p:spPr>
      </p:sp>
      <p:sp>
        <p:nvSpPr>
          <p:cNvPr id="17" name="Text 15"/>
          <p:cNvSpPr/>
          <p:nvPr/>
        </p:nvSpPr>
        <p:spPr>
          <a:xfrm>
            <a:off x="732365" y="5076230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819130" y="5105698"/>
            <a:ext cx="971109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Dynamic Risk Scoring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1819130" y="5514380"/>
            <a:ext cx="971109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Identity state is fused with behavioral vectors for a unified, context-aware fraud score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8127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Production Stress Testing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949946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Two adversarial scenarios validate the engine's real-world decision boundaries under live compliance demo conditions.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25350" y="2464991"/>
            <a:ext cx="5476043" cy="3411736"/>
          </a:xfrm>
          <a:prstGeom prst="roundRect">
            <a:avLst>
              <a:gd name="adj" fmla="val 831"/>
            </a:avLst>
          </a:prstGeom>
          <a:solidFill>
            <a:srgbClr val="1F0F0F"/>
          </a:solidFill>
          <a:ln/>
        </p:spPr>
      </p:sp>
      <p:sp>
        <p:nvSpPr>
          <p:cNvPr id="5" name="Shape 3"/>
          <p:cNvSpPr/>
          <p:nvPr/>
        </p:nvSpPr>
        <p:spPr>
          <a:xfrm>
            <a:off x="714357" y="2677616"/>
            <a:ext cx="3034827" cy="293489"/>
          </a:xfrm>
          <a:prstGeom prst="roundRect">
            <a:avLst>
              <a:gd name="adj" fmla="val 7728"/>
            </a:avLst>
          </a:prstGeom>
          <a:noFill/>
          <a:ln w="6350">
            <a:solidFill>
              <a:srgbClr val="97B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7761" y="2734270"/>
            <a:ext cx="3417604" cy="180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🚨</a:t>
            </a:r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97B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SCENARIO A — ACCOUNT TAKEOVER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14357" y="3046710"/>
            <a:ext cx="509802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Dormant Sender → Unverified Recipient at 3 AM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714357" y="3826272"/>
            <a:ext cx="5098029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9D9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Sender inactive for 47 days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9D9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Recipient node: zero prior transaction history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9D9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Transaction timestamp: 03:14 AM local time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9D9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Amount: $4,950 — just below reporting threshold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14357" y="5404247"/>
            <a:ext cx="570761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C62828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Expected Outcome: FRAUD BLOCK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196651" y="2464991"/>
            <a:ext cx="5476043" cy="3411736"/>
          </a:xfrm>
          <a:prstGeom prst="roundRect">
            <a:avLst>
              <a:gd name="adj" fmla="val 831"/>
            </a:avLst>
          </a:prstGeom>
          <a:solidFill>
            <a:srgbClr val="0F2818"/>
          </a:solidFill>
          <a:ln/>
        </p:spPr>
      </p:sp>
      <p:sp>
        <p:nvSpPr>
          <p:cNvPr id="11" name="Shape 9"/>
          <p:cNvSpPr/>
          <p:nvPr/>
        </p:nvSpPr>
        <p:spPr>
          <a:xfrm>
            <a:off x="6385658" y="2677616"/>
            <a:ext cx="3133746" cy="293489"/>
          </a:xfrm>
          <a:prstGeom prst="roundRect">
            <a:avLst>
              <a:gd name="adj" fmla="val 7728"/>
            </a:avLst>
          </a:prstGeom>
          <a:solidFill>
            <a:srgbClr val="00184D"/>
          </a:solidFill>
          <a:ln/>
        </p:spPr>
      </p:sp>
      <p:sp>
        <p:nvSpPr>
          <p:cNvPr id="12" name="Text 10"/>
          <p:cNvSpPr/>
          <p:nvPr/>
        </p:nvSpPr>
        <p:spPr>
          <a:xfrm>
            <a:off x="6499062" y="2734270"/>
            <a:ext cx="3516522" cy="180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✅</a:t>
            </a:r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SCENARIO B — LEGITIMATE VELOCITY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385658" y="3046710"/>
            <a:ext cx="509802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Trusted Merchant → Corporate Transfer at 2 PM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6385658" y="3826272"/>
            <a:ext cx="5098029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9D9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Sender: verified corporate account, 18-month history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9D9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Recipient: established merchant with prior transfers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9D9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Transaction timestamp: 02:00 PM business hours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9D9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Amount: $12,400 — consistent with historical pattern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385658" y="5404247"/>
            <a:ext cx="570761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1F9D55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Expected Outcome: SAFE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92511"/>
            <a:ext cx="10868745" cy="177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1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Thank You</a:t>
            </a:r>
            <a:endParaRPr lang="en-US" sz="11150" dirty="0"/>
          </a:p>
        </p:txBody>
      </p:sp>
      <p:sp>
        <p:nvSpPr>
          <p:cNvPr id="3" name="Text 1"/>
          <p:cNvSpPr/>
          <p:nvPr/>
        </p:nvSpPr>
        <p:spPr>
          <a:xfrm>
            <a:off x="661475" y="4048026"/>
            <a:ext cx="10868745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For exploring how FraudSense AI can protect your P2P network.</a:t>
            </a:r>
            <a:endParaRPr lang="en-US" sz="1450" dirty="0"/>
          </a:p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Contact us to schedule a deeper dive into our zero-leakage fraud detection.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2026-07-18T14:57:24Z</dcterms:created>
  <dcterms:modified xsi:type="dcterms:W3CDTF">2026-07-18T14:57:24Z</dcterms:modified>
</cp:coreProperties>
</file>